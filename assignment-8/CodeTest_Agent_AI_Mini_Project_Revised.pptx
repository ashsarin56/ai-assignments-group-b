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91472" y="548640"/>
            <a:ext cx="1417320" cy="1417320"/>
          </a:xfrm>
          <a:prstGeom prst="ellipse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1325880"/>
            <a:ext cx="713232" cy="713232"/>
          </a:xfrm>
          <a:prstGeom prst="ellipse">
            <a:avLst/>
          </a:prstGeom>
          <a:solidFill>
            <a:srgbClr val="46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2039112"/>
            <a:ext cx="384048" cy="384048"/>
          </a:xfrm>
          <a:prstGeom prst="ellipse">
            <a:avLst/>
          </a:prstGeom>
          <a:solidFill>
            <a:srgbClr val="B9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10144" y="2743200"/>
            <a:ext cx="3502152" cy="2267712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3026664"/>
            <a:ext cx="685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DAD3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328416"/>
            <a:ext cx="2788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Problem statement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0" y="3657600"/>
            <a:ext cx="2761488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21040" y="3785615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97FF"/>
                </a:solidFill>
                <a:latin typeface="Aptos"/>
              </a:rPr>
              <a:t>REFERENCE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096512"/>
            <a:ext cx="27889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Test count and 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453128"/>
            <a:ext cx="685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9DE9C"/>
                </a:solidFill>
                <a:latin typeface="Aptos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718304"/>
            <a:ext cx="2834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Validated test-package 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987552"/>
            <a:ext cx="68122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5F8FF"/>
                </a:solidFill>
                <a:latin typeface="Aptos"/>
              </a:rPr>
              <a:t>CodeTest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10512"/>
            <a:ext cx="67208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46DAD3"/>
                </a:solidFill>
                <a:latin typeface="Aptos"/>
              </a:rPr>
              <a:t>AI-Powered Test Case Generation
and Validation for Programming 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36392"/>
            <a:ext cx="649224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2BED3"/>
                </a:solidFill>
                <a:latin typeface="Aptos"/>
              </a:rPr>
              <a:t>Turn a problem statement, reference solution, and test requirements into a structured test package—with less repetitive manual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4727448"/>
            <a:ext cx="6537960" cy="932688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01184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DAD3"/>
                </a:solidFill>
                <a:latin typeface="Aptos"/>
              </a:rPr>
              <a:t>TEAM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93792"/>
            <a:ext cx="2606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Arin Shukla  |  Roll No. 7314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5193792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Ashutosh Pandey  |  Roll No. 7318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6089904"/>
            <a:ext cx="72237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2BED3"/>
                </a:solidFill>
                <a:latin typeface="Aptos"/>
              </a:rPr>
              <a:t>Subject: Artificial Intelligence  •  Subject Code: PCC304COM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023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DAD3"/>
                </a:solidFill>
                <a:latin typeface="Aptos"/>
              </a:rPr>
              <a:t>02  /  CODETEST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58368"/>
            <a:ext cx="109728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The Problem: Building a Strong Test Suite Takes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23444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ED3"/>
                </a:solidFill>
                <a:latin typeface="Aptos"/>
              </a:rPr>
              <a:t>A correct solution is not enough; the tests must also catch incorrect and inefficient programs.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82496"/>
            <a:ext cx="10945368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86868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2BED3"/>
                </a:solidFill>
                <a:latin typeface="Aptos"/>
              </a:rPr>
              <a:t>PCC304COM  •  Artificial Intelligence Mini Project  •  2/7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93392"/>
            <a:ext cx="6583680" cy="4041648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5760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46DAD3"/>
                </a:solidFill>
                <a:latin typeface="Aptos"/>
              </a:rPr>
              <a:t>What a problem setter must do manually</a:t>
            </a:r>
          </a:p>
        </p:txBody>
      </p:sp>
      <p:sp>
        <p:nvSpPr>
          <p:cNvPr id="9" name="Oval 8"/>
          <p:cNvSpPr/>
          <p:nvPr/>
        </p:nvSpPr>
        <p:spPr>
          <a:xfrm>
            <a:off x="1024128" y="2743200"/>
            <a:ext cx="310896" cy="310896"/>
          </a:xfrm>
          <a:prstGeom prst="ellipse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811780"/>
            <a:ext cx="31089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46DAD3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724912"/>
            <a:ext cx="5394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Aptos"/>
              </a:rPr>
              <a:t>Design valid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971800"/>
            <a:ext cx="5394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Follow the exact input format and all constraints.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355848"/>
            <a:ext cx="310896" cy="310896"/>
          </a:xfrm>
          <a:prstGeom prst="ellipse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24428"/>
            <a:ext cx="31089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46DAD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337560"/>
            <a:ext cx="5394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Aptos"/>
              </a:rPr>
              <a:t>Cover edge and boundary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584448"/>
            <a:ext cx="5394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Think about minimum values, maximum values, duplicates, and unusual patterns.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3968496"/>
            <a:ext cx="310896" cy="310896"/>
          </a:xfrm>
          <a:prstGeom prst="ellipse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037076"/>
            <a:ext cx="31089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46DAD3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950208"/>
            <a:ext cx="5394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Aptos"/>
              </a:rPr>
              <a:t>Generate expected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197096"/>
            <a:ext cx="5394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Run the reference solution on every input and store each result correctly.</a:t>
            </a:r>
          </a:p>
        </p:txBody>
      </p:sp>
      <p:sp>
        <p:nvSpPr>
          <p:cNvPr id="21" name="Oval 20"/>
          <p:cNvSpPr/>
          <p:nvPr/>
        </p:nvSpPr>
        <p:spPr>
          <a:xfrm>
            <a:off x="1024128" y="4581144"/>
            <a:ext cx="310896" cy="310896"/>
          </a:xfrm>
          <a:prstGeom prst="ellipse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649724"/>
            <a:ext cx="31089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46DAD3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62856"/>
            <a:ext cx="5394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Aptos"/>
              </a:rPr>
              <a:t>Test the strength of the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09744"/>
            <a:ext cx="5394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Try to expose wrong logic, missed cases, and solutions that are too slow.</a:t>
            </a:r>
          </a:p>
        </p:txBody>
      </p:sp>
      <p:sp>
        <p:nvSpPr>
          <p:cNvPr id="25" name="Oval 24"/>
          <p:cNvSpPr/>
          <p:nvPr/>
        </p:nvSpPr>
        <p:spPr>
          <a:xfrm>
            <a:off x="1024128" y="5193792"/>
            <a:ext cx="310896" cy="310896"/>
          </a:xfrm>
          <a:prstGeom prst="ellipse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262372"/>
            <a:ext cx="31089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46DAD3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75504"/>
            <a:ext cx="5394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5F8FF"/>
                </a:solidFill>
                <a:latin typeface="Aptos"/>
              </a:rPr>
              <a:t>Organize the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422392"/>
            <a:ext cx="5394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Keep every input paired with its matching output and prepare the upload package.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1993392"/>
            <a:ext cx="3858768" cy="4041648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7" y="2295144"/>
            <a:ext cx="32461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Why this is a real bottleneck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2" y="2980944"/>
            <a:ext cx="2560320" cy="557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BE63"/>
                </a:solidFill>
                <a:latin typeface="Aptos"/>
              </a:rPr>
              <a:t>HOURS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547872"/>
            <a:ext cx="294436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of repetitive work for careful test preparation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09560" y="4206240"/>
            <a:ext cx="3200400" cy="0"/>
          </a:xfrm>
          <a:prstGeom prst="line">
            <a:avLst/>
          </a:prstGeom>
          <a:ln w="12700">
            <a:solidFill>
              <a:srgbClr val="415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09560" y="4434840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381"/>
                </a:solidFill>
                <a:latin typeface="Aptos"/>
              </a:rPr>
              <a:t>If important cases are missed: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773168"/>
            <a:ext cx="3063240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• Incorrect solutions may pass.
• Slow solutions may not be exposed.
• Manual mistakes can break the test package.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023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DAD3"/>
                </a:solidFill>
                <a:latin typeface="Aptos"/>
              </a:rPr>
              <a:t>03  /  CODETEST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58368"/>
            <a:ext cx="109728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Our Solution: CodeTest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23444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ED3"/>
                </a:solidFill>
                <a:latin typeface="Aptos"/>
              </a:rPr>
              <a:t>A focused AI agent that automates test creation and packaging for an existing programming problem.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82496"/>
            <a:ext cx="10945368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86868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2BED3"/>
                </a:solidFill>
                <a:latin typeface="Aptos"/>
              </a:rPr>
              <a:t>PCC304COM  •  Artificial Intelligence Mini Project  •  3/7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4864608" cy="3931920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3134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46DAD3"/>
                </a:solidFill>
                <a:latin typeface="Aptos"/>
              </a:rPr>
              <a:t>The setter provides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843784"/>
            <a:ext cx="155448" cy="155448"/>
          </a:xfrm>
          <a:prstGeom prst="ellipse">
            <a:avLst/>
          </a:prstGeom>
          <a:solidFill>
            <a:srgbClr val="46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816352"/>
            <a:ext cx="3794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72384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Describes the task, input, output, and constraints.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3511296"/>
            <a:ext cx="155448" cy="155448"/>
          </a:xfrm>
          <a:prstGeom prst="ellipse">
            <a:avLst/>
          </a:prstGeom>
          <a:solidFill>
            <a:srgbClr val="6B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483864"/>
            <a:ext cx="3794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Reference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39896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A program expected to produce the correct answer.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178808"/>
            <a:ext cx="155448" cy="155448"/>
          </a:xfrm>
          <a:prstGeom prst="ellipse">
            <a:avLst/>
          </a:prstGeom>
          <a:solidFill>
            <a:srgbClr val="B9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151376"/>
            <a:ext cx="3794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Number of test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07408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For example, 50 or 100 tests.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4846320"/>
            <a:ext cx="155448" cy="155448"/>
          </a:xfrm>
          <a:prstGeom prst="ellipse">
            <a:avLst/>
          </a:prstGeom>
          <a:solidFill>
            <a:srgbClr val="69D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818888"/>
            <a:ext cx="3794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Test preferences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74920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Edge, random, maximum-size, or stress cases.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3867912"/>
            <a:ext cx="621792" cy="0"/>
          </a:xfrm>
          <a:prstGeom prst="line">
            <a:avLst/>
          </a:prstGeom>
          <a:ln w="38100">
            <a:solidFill>
              <a:srgbClr val="46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83680" y="2011680"/>
            <a:ext cx="4846320" cy="3931920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313432"/>
            <a:ext cx="4160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69DE9C"/>
                </a:solidFill>
                <a:latin typeface="Aptos"/>
              </a:rPr>
              <a:t>The agent helps produce</a:t>
            </a:r>
          </a:p>
        </p:txBody>
      </p:sp>
      <p:sp>
        <p:nvSpPr>
          <p:cNvPr id="24" name="Oval 23"/>
          <p:cNvSpPr/>
          <p:nvPr/>
        </p:nvSpPr>
        <p:spPr>
          <a:xfrm>
            <a:off x="6931152" y="2834640"/>
            <a:ext cx="265176" cy="265176"/>
          </a:xfrm>
          <a:prstGeom prst="ellipse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875788"/>
            <a:ext cx="265176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9DE9C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2816352"/>
            <a:ext cx="3639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A test-generator 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3072384"/>
            <a:ext cx="3703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Creates inputs according to the plan.</a:t>
            </a:r>
          </a:p>
        </p:txBody>
      </p:sp>
      <p:sp>
        <p:nvSpPr>
          <p:cNvPr id="28" name="Oval 27"/>
          <p:cNvSpPr/>
          <p:nvPr/>
        </p:nvSpPr>
        <p:spPr>
          <a:xfrm>
            <a:off x="6931152" y="3502152"/>
            <a:ext cx="265176" cy="265176"/>
          </a:xfrm>
          <a:prstGeom prst="ellipse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3543300"/>
            <a:ext cx="265176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9DE9C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3488" y="3483864"/>
            <a:ext cx="3639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Input 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3488" y="3739896"/>
            <a:ext cx="3703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Contains valid test data for the problem.</a:t>
            </a:r>
          </a:p>
        </p:txBody>
      </p:sp>
      <p:sp>
        <p:nvSpPr>
          <p:cNvPr id="32" name="Oval 31"/>
          <p:cNvSpPr/>
          <p:nvPr/>
        </p:nvSpPr>
        <p:spPr>
          <a:xfrm>
            <a:off x="6931152" y="4169663"/>
            <a:ext cx="265176" cy="265176"/>
          </a:xfrm>
          <a:prstGeom prst="ellipse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4210812"/>
            <a:ext cx="265176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9DE9C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3488" y="4151376"/>
            <a:ext cx="3639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Output 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3488" y="4407408"/>
            <a:ext cx="3703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Contains answers from the reference solution.</a:t>
            </a:r>
          </a:p>
        </p:txBody>
      </p:sp>
      <p:sp>
        <p:nvSpPr>
          <p:cNvPr id="36" name="Oval 35"/>
          <p:cNvSpPr/>
          <p:nvPr/>
        </p:nvSpPr>
        <p:spPr>
          <a:xfrm>
            <a:off x="6931152" y="4837175"/>
            <a:ext cx="265176" cy="265176"/>
          </a:xfrm>
          <a:prstGeom prst="ellipse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2" y="4878324"/>
            <a:ext cx="265176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9DE9C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4818888"/>
            <a:ext cx="36393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A ZIP package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3488" y="5074920"/>
            <a:ext cx="3703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Keeps the input and output folders organized.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522976"/>
            <a:ext cx="4069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2BED3"/>
                </a:solidFill>
                <a:latin typeface="Aptos"/>
              </a:rPr>
              <a:t>The setter reviews the result before uploading it to a compatible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023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DAD3"/>
                </a:solidFill>
                <a:latin typeface="Aptos"/>
              </a:rPr>
              <a:t>04  /  CODETEST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58368"/>
            <a:ext cx="109728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How the Agent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23444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ED3"/>
                </a:solidFill>
                <a:latin typeface="Aptos"/>
              </a:rPr>
              <a:t>AI is used for planning and generating the test generator; reliable program execution handles the checks and files.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82496"/>
            <a:ext cx="10945368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86868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2BED3"/>
                </a:solidFill>
                <a:latin typeface="Aptos"/>
              </a:rPr>
              <a:t>PCC304COM  •  Artificial Intelligence Mini Project  •  4/7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267712"/>
            <a:ext cx="1746504" cy="2286000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432304"/>
            <a:ext cx="393192" cy="393192"/>
          </a:xfrm>
          <a:prstGeom prst="ellipse">
            <a:avLst/>
          </a:prstGeom>
          <a:solidFill>
            <a:srgbClr val="46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519172"/>
            <a:ext cx="393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132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026664"/>
            <a:ext cx="14721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456432"/>
            <a:ext cx="147218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Read the problem,
solution, and requests.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50591" y="3401568"/>
            <a:ext cx="164593" cy="0"/>
          </a:xfrm>
          <a:prstGeom prst="line">
            <a:avLst/>
          </a:prstGeom>
          <a:ln w="21590">
            <a:solidFill>
              <a:srgbClr val="46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42615" y="2267712"/>
            <a:ext cx="1746504" cy="2286000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98063" y="2432304"/>
            <a:ext cx="393192" cy="393192"/>
          </a:xfrm>
          <a:prstGeom prst="ellipse">
            <a:avLst/>
          </a:prstGeom>
          <a:solidFill>
            <a:srgbClr val="6B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8063" y="2519172"/>
            <a:ext cx="393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1324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3" y="3026664"/>
            <a:ext cx="14721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3" y="3456432"/>
            <a:ext cx="147218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Select test types and
important edge cases.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98264" y="3401568"/>
            <a:ext cx="164591" cy="0"/>
          </a:xfrm>
          <a:prstGeom prst="line">
            <a:avLst/>
          </a:prstGeom>
          <a:ln w="21590">
            <a:solidFill>
              <a:srgbClr val="46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90288" y="2267712"/>
            <a:ext cx="1746504" cy="2286000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45736" y="2432304"/>
            <a:ext cx="393192" cy="393192"/>
          </a:xfrm>
          <a:prstGeom prst="ellipse">
            <a:avLst/>
          </a:prstGeom>
          <a:solidFill>
            <a:srgbClr val="B9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5736" y="2519172"/>
            <a:ext cx="393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1324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3026664"/>
            <a:ext cx="14721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3456432"/>
            <a:ext cx="147218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Create a Python script
to produce test inputs.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45936" y="3401568"/>
            <a:ext cx="164591" cy="0"/>
          </a:xfrm>
          <a:prstGeom prst="line">
            <a:avLst/>
          </a:prstGeom>
          <a:ln w="21590">
            <a:solidFill>
              <a:srgbClr val="46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37959" y="2267712"/>
            <a:ext cx="1746504" cy="2286000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3407" y="2432304"/>
            <a:ext cx="393192" cy="393192"/>
          </a:xfrm>
          <a:prstGeom prst="ellipse">
            <a:avLst/>
          </a:prstGeom>
          <a:solidFill>
            <a:srgbClr val="69D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7" y="2519172"/>
            <a:ext cx="393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1324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7" y="3026664"/>
            <a:ext cx="14721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7" y="3456432"/>
            <a:ext cx="147218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Run the generator and
reference solution.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93607" y="3401568"/>
            <a:ext cx="164593" cy="0"/>
          </a:xfrm>
          <a:prstGeom prst="line">
            <a:avLst/>
          </a:prstGeom>
          <a:ln w="21590">
            <a:solidFill>
              <a:srgbClr val="46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85632" y="2267712"/>
            <a:ext cx="1746504" cy="2286000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41080" y="2432304"/>
            <a:ext cx="393192" cy="393192"/>
          </a:xfrm>
          <a:prstGeom prst="ellipse">
            <a:avLst/>
          </a:prstGeom>
          <a:solidFill>
            <a:srgbClr val="FF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2519172"/>
            <a:ext cx="393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1324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026664"/>
            <a:ext cx="14721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456432"/>
            <a:ext cx="147218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Check format, limits,
and execution errors.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241280" y="3401568"/>
            <a:ext cx="164592" cy="0"/>
          </a:xfrm>
          <a:prstGeom prst="line">
            <a:avLst/>
          </a:prstGeom>
          <a:ln w="21590">
            <a:solidFill>
              <a:srgbClr val="46D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433303" y="2267712"/>
            <a:ext cx="1746504" cy="2286000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88751" y="2432304"/>
            <a:ext cx="393192" cy="393192"/>
          </a:xfrm>
          <a:prstGeom prst="ellipse">
            <a:avLst/>
          </a:prstGeom>
          <a:solidFill>
            <a:srgbClr val="46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88751" y="2519172"/>
            <a:ext cx="393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0C1324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88751" y="3026664"/>
            <a:ext cx="147218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Package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1" y="3456432"/>
            <a:ext cx="147218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Create matching input/
output folders and ZIP.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" y="4983480"/>
            <a:ext cx="10287000" cy="795528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25296" y="5175504"/>
            <a:ext cx="15270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DAD3"/>
                </a:solidFill>
                <a:latin typeface="Aptos"/>
              </a:rPr>
              <a:t>Design principle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175504"/>
            <a:ext cx="8046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Use AI to plan and generate; use controlled execution to run code, detect failures, and build the package.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3584" y="5998464"/>
            <a:ext cx="9784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2BED3"/>
                </a:solidFill>
                <a:latin typeface="Aptos"/>
              </a:rPr>
              <a:t>Generated scripts should run with time limits and resource restrictions.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023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DAD3"/>
                </a:solidFill>
                <a:latin typeface="Aptos"/>
              </a:rPr>
              <a:t>05  /  CODETEST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58368"/>
            <a:ext cx="109728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Test Cases the Agent Can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23444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ED3"/>
                </a:solidFill>
                <a:latin typeface="Aptos"/>
              </a:rPr>
              <a:t>Different test categories target different kinds of mistakes; the setter can request a custom mix.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82496"/>
            <a:ext cx="10945368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86868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2BED3"/>
                </a:solidFill>
                <a:latin typeface="Aptos"/>
              </a:rPr>
              <a:t>PCC304COM  •  Artificial Intelligence Mini Project  •  5/7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84831"/>
            <a:ext cx="3456432" cy="1389888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4942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46DAD3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23744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Edge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52927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Smallest valid input, one element, all equal values, or other special cases.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084831"/>
            <a:ext cx="3456432" cy="1389888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24942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B97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523744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Boundary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852927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Minimum and maximum allowed values, sizes, and limits.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84831"/>
            <a:ext cx="3456432" cy="1389888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24942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989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523744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Random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852927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Many valid combinations to explore a wider range of inputs.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58183"/>
            <a:ext cx="3456432" cy="1389888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922775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FBE63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97096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Large-Size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526279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Inputs near the maximum size to test performance and memory 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758183"/>
            <a:ext cx="3456432" cy="1389888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922775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F7381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197096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Stress / Adversarial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4526279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Patterns designed to expose common wrong approaches or slow algorithms.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758183"/>
            <a:ext cx="3456432" cy="1389888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3922775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9DE9C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197096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Custom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4526279"/>
            <a:ext cx="299923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Special patterns the setter describes for the problem.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" y="5577840"/>
            <a:ext cx="10789920" cy="493776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733288"/>
            <a:ext cx="10332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E63"/>
                </a:solidFill>
                <a:latin typeface="Aptos"/>
              </a:rPr>
              <a:t>Important: TLE-oriented tests can expose slow solutions, but no test generator can guarantee that every bug will be caught.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023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DAD3"/>
                </a:solidFill>
                <a:latin typeface="Aptos"/>
              </a:rPr>
              <a:t>06  /  CODETEST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58368"/>
            <a:ext cx="109728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Validation: Do Not Trust Generated Tests Blindly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23444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ED3"/>
                </a:solidFill>
                <a:latin typeface="Aptos"/>
              </a:rPr>
              <a:t>The system should check the generated files before allowing the package to be exported.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82496"/>
            <a:ext cx="10945368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86868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2BED3"/>
                </a:solidFill>
                <a:latin typeface="Aptos"/>
              </a:rPr>
              <a:t>PCC304COM  •  Artificial Intelligence Mini Project  •  6/7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29968"/>
            <a:ext cx="5669280" cy="3977639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22576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46DAD3"/>
                </a:solidFill>
                <a:latin typeface="Aptos"/>
              </a:rPr>
              <a:t>Checks performed before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798064"/>
            <a:ext cx="228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9DE9C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798064"/>
            <a:ext cx="4526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Input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3026664"/>
            <a:ext cx="4645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Does each test follow the required structure?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374136"/>
            <a:ext cx="228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9DE9C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74136"/>
            <a:ext cx="4526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3602736"/>
            <a:ext cx="4645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Are values and sizes within allowed limits?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0208"/>
            <a:ext cx="228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9DE9C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950208"/>
            <a:ext cx="4526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178808"/>
            <a:ext cx="4645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Can the generator and reference solution run successfully?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526280"/>
            <a:ext cx="228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9DE9C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526280"/>
            <a:ext cx="4526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Input/output pairing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754880"/>
            <a:ext cx="4645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Does every input have a matching output file?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102352"/>
            <a:ext cx="228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9DE9C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5102352"/>
            <a:ext cx="4526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F8FF"/>
                </a:solidFill>
                <a:latin typeface="Aptos"/>
              </a:rPr>
              <a:t>Brute-force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5330952"/>
            <a:ext cx="464515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For small cases, compare the reference answer with a simpler solution when available.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11696" y="2029968"/>
            <a:ext cx="4681728" cy="1618488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8" y="2304288"/>
            <a:ext cx="39776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7381"/>
                </a:solidFill>
                <a:latin typeface="Aptos"/>
              </a:rPr>
              <a:t>If a check fails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2724912"/>
            <a:ext cx="3977639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Stop the export, show a useful error message, and let the setter correct or regenerate the test.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11696" y="3867912"/>
            <a:ext cx="4681728" cy="2139696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4142232"/>
            <a:ext cx="3886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69DE9C"/>
                </a:solidFill>
                <a:latin typeface="Aptos"/>
              </a:rPr>
              <a:t>What validation adds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4553712"/>
            <a:ext cx="3977639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• Fewer malformed or unusable tests.
• More confidence in output generation.
• A clearer record of checks completed.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5586984"/>
            <a:ext cx="397763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B2BED3"/>
                </a:solidFill>
                <a:latin typeface="Aptos"/>
              </a:rPr>
              <a:t>Human review is still necessary for problem correctness and test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"/>
            <a:ext cx="4023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DAD3"/>
                </a:solidFill>
                <a:latin typeface="Aptos"/>
              </a:rPr>
              <a:t>07  /  CODETEST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58368"/>
            <a:ext cx="109728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Final Output, Benefits,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23444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2BED3"/>
                </a:solidFill>
                <a:latin typeface="Aptos"/>
              </a:rPr>
              <a:t>The result is a repeatable workflow from problem requirements to an organized test package.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82496"/>
            <a:ext cx="10945368" cy="0"/>
          </a:xfrm>
          <a:prstGeom prst="line">
            <a:avLst/>
          </a:prstGeom>
          <a:ln w="12700">
            <a:solidFill>
              <a:srgbClr val="30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86868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2BED3"/>
                </a:solidFill>
                <a:latin typeface="Aptos"/>
              </a:rPr>
              <a:t>PCC304COM  •  Artificial Intelligence Mini Project  •  7/7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3822191" cy="3867912"/>
          </a:xfrm>
          <a:prstGeom prst="round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331720"/>
            <a:ext cx="3182112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6DAD3"/>
                </a:solidFill>
                <a:latin typeface="Aptos"/>
              </a:rPr>
              <a:t>Generated Package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852928"/>
            <a:ext cx="3227832" cy="2532888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3090672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problem.zip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3675887"/>
            <a:ext cx="310896" cy="310896"/>
          </a:xfrm>
          <a:prstGeom prst="ellipse">
            <a:avLst/>
          </a:prstGeom>
          <a:solidFill>
            <a:srgbClr val="46D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730752"/>
            <a:ext cx="310896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324"/>
                </a:solidFill>
                <a:latin typeface="Aptos"/>
              </a:rPr>
              <a:t>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75887"/>
            <a:ext cx="18288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input/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50208"/>
            <a:ext cx="21671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1.txt  •  2.txt  •  3.txt  •  ...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4462272"/>
            <a:ext cx="310896" cy="310896"/>
          </a:xfrm>
          <a:prstGeom prst="ellipse">
            <a:avLst/>
          </a:prstGeom>
          <a:solidFill>
            <a:srgbClr val="69D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517136"/>
            <a:ext cx="310896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C1324"/>
                </a:solidFill>
                <a:latin typeface="Aptos"/>
              </a:rPr>
              <a:t>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462272"/>
            <a:ext cx="18288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F8FF"/>
                </a:solidFill>
                <a:latin typeface="Aptos"/>
              </a:rPr>
              <a:t>output/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36592"/>
            <a:ext cx="216712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B2BED3"/>
                </a:solidFill>
                <a:latin typeface="Aptos"/>
              </a:rPr>
              <a:t>1.txt  •  2.txt  •  3.txt  •  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5522976"/>
            <a:ext cx="3246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B2BED3"/>
                </a:solidFill>
                <a:latin typeface="Aptos"/>
              </a:rPr>
              <a:t>Each input file is paired with its expected output.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2148840"/>
            <a:ext cx="228600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Key 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624328"/>
            <a:ext cx="182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6DAD3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2624328"/>
            <a:ext cx="2395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Aptos"/>
              </a:rPr>
              <a:t>Save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2624328"/>
            <a:ext cx="356616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Reduce hours of repetitive manual preparation.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27832"/>
            <a:ext cx="182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6B97FF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227832"/>
            <a:ext cx="2395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Aptos"/>
              </a:rPr>
              <a:t>Improve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3227832"/>
            <a:ext cx="356616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Plan a deliberate mix of test categories.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3831336"/>
            <a:ext cx="182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69DE9C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944" y="3831336"/>
            <a:ext cx="2395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Aptos"/>
              </a:rPr>
              <a:t>Create outputs automatically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3831336"/>
            <a:ext cx="356616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Run the reference solution for each input.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434840"/>
            <a:ext cx="182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B989FF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66944" y="4434840"/>
            <a:ext cx="23957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F8FF"/>
                </a:solidFill>
                <a:latin typeface="Aptos"/>
              </a:rPr>
              <a:t>Reduce packaging errors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4434840"/>
            <a:ext cx="356616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2BED3"/>
                </a:solidFill>
                <a:latin typeface="Aptos"/>
              </a:rPr>
              <a:t>Organize matched files into one ZIP.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65192" y="5257800"/>
            <a:ext cx="6336792" cy="704088"/>
          </a:xfrm>
          <a:prstGeom prst="roundRect">
            <a:avLst/>
          </a:prstGeom>
          <a:solidFill>
            <a:srgbClr val="1D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5431536"/>
            <a:ext cx="1389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46DAD3"/>
                </a:solidFill>
                <a:latin typeface="Aptos"/>
              </a:rPr>
              <a:t>Future Scope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404104"/>
            <a:ext cx="44074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5F8FF"/>
                </a:solidFill>
                <a:latin typeface="Aptos"/>
              </a:rPr>
              <a:t>More programming languages • stronger adversarial tests • direct platform exports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6190488"/>
            <a:ext cx="16459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